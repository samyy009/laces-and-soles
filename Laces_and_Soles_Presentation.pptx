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1F2937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85340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F43F5E"/>
                </a:solidFill>
              </a:defRPr>
            </a:pPr>
            <a:r>
              <a:t>LACES &amp; SOLES</a:t>
            </a:r>
          </a:p>
          <a:p>
            <a:pPr algn="ctr">
              <a:spcBef>
                <a:spcPts val="1600"/>
              </a:spcBef>
              <a:defRPr sz="2200">
                <a:solidFill>
                  <a:srgbClr val="FFFFFF"/>
                </a:solidFill>
              </a:defRPr>
            </a:pPr>
            <a:r>
              <a:t>Premium Footwear E-Commerce &amp; Real-Time Tracking Ecosystem</a:t>
            </a:r>
          </a:p>
          <a:p>
            <a:pPr algn="ctr">
              <a:spcBef>
                <a:spcPts val="2400"/>
              </a:spcBef>
              <a:defRPr sz="1600">
                <a:solidFill>
                  <a:srgbClr val="9CA3AF"/>
                </a:solidFill>
              </a:defRPr>
            </a:pPr>
            <a:r>
              <a:t>Full-Stack Web Development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37160" cy="7315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57200"/>
            <a:ext cx="104241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PROBLEM STATEMENT</a:t>
            </a:r>
          </a:p>
          <a:p>
            <a:pPr>
              <a:spcBef>
                <a:spcPts val="400"/>
              </a:spcBef>
              <a:defRPr sz="1400">
                <a:solidFill>
                  <a:srgbClr val="9CA3AF"/>
                </a:solidFill>
              </a:defRPr>
            </a:pPr>
            <a:r>
              <a:t>Key Challenges in Traditional Footwear E-Commerce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800" b="1">
                <a:solidFill>
                  <a:srgbClr val="F43F5E"/>
                </a:solidFill>
              </a:defRPr>
            </a:pPr>
            <a:r>
              <a:t>❌  Inventory Out-of-Sync</a:t>
            </a:r>
          </a:p>
          <a:p>
            <a:pPr>
              <a:spcBef>
                <a:spcPts val="800"/>
              </a:spcBef>
              <a:defRPr sz="1400">
                <a:solidFill>
                  <a:srgbClr val="E5E7EB"/>
                </a:solidFill>
              </a:defRPr>
            </a:pPr>
            <a:r>
              <a:t>Traditional stores lack real-time stock updates, causing overselling and stock discrepancies during high-demand product drops.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800" b="1">
                <a:solidFill>
                  <a:srgbClr val="F43F5E"/>
                </a:solidFill>
              </a:defRPr>
            </a:pPr>
            <a:r>
              <a:t>❌  Opaque Order Tracking</a:t>
            </a:r>
          </a:p>
          <a:p>
            <a:pPr>
              <a:spcBef>
                <a:spcPts val="800"/>
              </a:spcBef>
              <a:defRPr sz="1400">
                <a:solidFill>
                  <a:srgbClr val="E5E7EB"/>
                </a:solidFill>
              </a:defRPr>
            </a:pPr>
            <a:r>
              <a:t>Customers face static order statuses without visibility into live shipping stages, delivery distances, or driver locations.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800" b="1">
                <a:solidFill>
                  <a:srgbClr val="F43F5E"/>
                </a:solidFill>
              </a:defRPr>
            </a:pPr>
            <a:r>
              <a:t>❌  Checkout &amp; Security Gaps</a:t>
            </a:r>
          </a:p>
          <a:p>
            <a:pPr>
              <a:spcBef>
                <a:spcPts val="800"/>
              </a:spcBef>
              <a:defRPr sz="1400">
                <a:solidFill>
                  <a:srgbClr val="E5E7EB"/>
                </a:solidFill>
              </a:defRPr>
            </a:pPr>
            <a:r>
              <a:t>Unsecured checkout processes and lack of automated payment verification increase transaction failure rates and customer friction.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800" b="1">
                <a:solidFill>
                  <a:srgbClr val="F43F5E"/>
                </a:solidFill>
              </a:defRPr>
            </a:pPr>
            <a:r>
              <a:t>❌  Fragmented Admin Tools</a:t>
            </a:r>
          </a:p>
          <a:p>
            <a:pPr>
              <a:spcBef>
                <a:spcPts val="800"/>
              </a:spcBef>
              <a:defRPr sz="1400">
                <a:solidFill>
                  <a:srgbClr val="E5E7EB"/>
                </a:solidFill>
              </a:defRPr>
            </a:pPr>
            <a:r>
              <a:t>Store managers lack centralized analytics for live sales, inventory management, revenue tracking, and order updates.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37160" cy="7315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57200"/>
            <a:ext cx="104241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PROJECT OBJECTIVES</a:t>
            </a:r>
          </a:p>
          <a:p>
            <a:pPr>
              <a:spcBef>
                <a:spcPts val="400"/>
              </a:spcBef>
              <a:defRPr sz="1400">
                <a:solidFill>
                  <a:srgbClr val="9CA3AF"/>
                </a:solidFill>
              </a:defRPr>
            </a:pPr>
            <a:r>
              <a:t>Core Goals &amp; Solution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🎯  Real-Time Inventory Sync</a:t>
            </a:r>
          </a:p>
          <a:p>
            <a:pPr>
              <a:spcBef>
                <a:spcPts val="800"/>
              </a:spcBef>
              <a:defRPr sz="1400">
                <a:solidFill>
                  <a:srgbClr val="E5E7EB"/>
                </a:solidFill>
              </a:defRPr>
            </a:pPr>
            <a:r>
              <a:t>Implement WebSockets (Socket.IO) for instant stock synchronization across all active client browsers.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🎯  End-to-End Tracking System</a:t>
            </a:r>
          </a:p>
          <a:p>
            <a:pPr>
              <a:spcBef>
                <a:spcPts val="800"/>
              </a:spcBef>
              <a:defRPr sz="1400">
                <a:solidFill>
                  <a:srgbClr val="E5E7EB"/>
                </a:solidFill>
              </a:defRPr>
            </a:pPr>
            <a:r>
              <a:t>Develop a public order tracking portal providing live status timelines, distance metrics, and driver coordinates.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🎯  Secure Payments &amp; Notifications</a:t>
            </a:r>
          </a:p>
          <a:p>
            <a:pPr>
              <a:spcBef>
                <a:spcPts val="800"/>
              </a:spcBef>
              <a:defRPr sz="1400">
                <a:solidFill>
                  <a:srgbClr val="E5E7EB"/>
                </a:solidFill>
              </a:defRPr>
            </a:pPr>
            <a:r>
              <a:t>Integrate Razorpay payment gateway verification alongside automated Brevo transactional email receipts.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🎯  Centralized Admin Control</a:t>
            </a:r>
          </a:p>
          <a:p>
            <a:pPr>
              <a:spcBef>
                <a:spcPts val="800"/>
              </a:spcBef>
              <a:defRPr sz="1400">
                <a:solidFill>
                  <a:srgbClr val="E5E7EB"/>
                </a:solidFill>
              </a:defRPr>
            </a:pPr>
            <a:r>
              <a:t>Build a secret 7-click protected Admin Portal featuring live sales revenue metrics, stock management, and order dispatches.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37160" cy="7315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57200"/>
            <a:ext cx="104241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TECH STACK</a:t>
            </a:r>
          </a:p>
          <a:p>
            <a:pPr>
              <a:spcBef>
                <a:spcPts val="400"/>
              </a:spcBef>
              <a:defRPr sz="1400">
                <a:solidFill>
                  <a:srgbClr val="9CA3AF"/>
                </a:solidFill>
              </a:defRPr>
            </a:pPr>
            <a:r>
              <a:t>Modern Full-Stack Technology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F2937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800" b="1">
                <a:solidFill>
                  <a:srgbClr val="F43F5E"/>
                </a:solidFill>
              </a:defRPr>
            </a:pPr>
            <a:r>
              <a:t>Frontend Architecture</a:t>
            </a:r>
          </a:p>
          <a:p>
            <a:pPr>
              <a:spcBef>
                <a:spcPts val="1400"/>
              </a:spcBef>
              <a:defRPr sz="1400">
                <a:solidFill>
                  <a:srgbClr val="E5E7EB"/>
                </a:solidFill>
              </a:defRPr>
            </a:pPr>
            <a:r>
              <a:t>• React 19 + Vite Framework</a:t>
            </a:r>
          </a:p>
          <a:p>
            <a:pPr>
              <a:spcBef>
                <a:spcPts val="1400"/>
              </a:spcBef>
              <a:defRPr sz="1400">
                <a:solidFill>
                  <a:srgbClr val="E5E7EB"/>
                </a:solidFill>
              </a:defRPr>
            </a:pPr>
            <a:r>
              <a:t>• TailwindCSS v4 Styling</a:t>
            </a:r>
          </a:p>
          <a:p>
            <a:pPr>
              <a:spcBef>
                <a:spcPts val="1400"/>
              </a:spcBef>
              <a:defRPr sz="1400">
                <a:solidFill>
                  <a:srgbClr val="E5E7EB"/>
                </a:solidFill>
              </a:defRPr>
            </a:pPr>
            <a:r>
              <a:t>• Lucide React Icons &amp; Toastify</a:t>
            </a:r>
          </a:p>
          <a:p>
            <a:pPr>
              <a:spcBef>
                <a:spcPts val="1400"/>
              </a:spcBef>
              <a:defRPr sz="1400">
                <a:solidFill>
                  <a:srgbClr val="E5E7EB"/>
                </a:solidFill>
              </a:defRPr>
            </a:pPr>
            <a:r>
              <a:t>• React Router v7 Navigation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383280" cy="4572000"/>
          </a:xfrm>
          <a:prstGeom prst="roundRect">
            <a:avLst/>
          </a:prstGeom>
          <a:solidFill>
            <a:srgbClr val="1F2937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800" b="1">
                <a:solidFill>
                  <a:srgbClr val="F43F5E"/>
                </a:solidFill>
              </a:defRPr>
            </a:pPr>
            <a:r>
              <a:t>Backend Services</a:t>
            </a:r>
          </a:p>
          <a:p>
            <a:pPr>
              <a:spcBef>
                <a:spcPts val="1400"/>
              </a:spcBef>
              <a:defRPr sz="1400">
                <a:solidFill>
                  <a:srgbClr val="E5E7EB"/>
                </a:solidFill>
              </a:defRPr>
            </a:pPr>
            <a:r>
              <a:t>• Python Flask RESTful API</a:t>
            </a:r>
          </a:p>
          <a:p>
            <a:pPr>
              <a:spcBef>
                <a:spcPts val="1400"/>
              </a:spcBef>
              <a:defRPr sz="1400">
                <a:solidFill>
                  <a:srgbClr val="E5E7EB"/>
                </a:solidFill>
              </a:defRPr>
            </a:pPr>
            <a:r>
              <a:t>• Flask-SocketIO (Real-Time Websockets)</a:t>
            </a:r>
          </a:p>
          <a:p>
            <a:pPr>
              <a:spcBef>
                <a:spcPts val="1400"/>
              </a:spcBef>
              <a:defRPr sz="1400">
                <a:solidFill>
                  <a:srgbClr val="E5E7EB"/>
                </a:solidFill>
              </a:defRPr>
            </a:pPr>
            <a:r>
              <a:t>• Flask-JWT-Extended Authentication</a:t>
            </a:r>
          </a:p>
          <a:p>
            <a:pPr>
              <a:spcBef>
                <a:spcPts val="1400"/>
              </a:spcBef>
              <a:defRPr sz="1400">
                <a:solidFill>
                  <a:srgbClr val="E5E7EB"/>
                </a:solidFill>
              </a:defRPr>
            </a:pPr>
            <a:r>
              <a:t>• Flask-Limiter Rate Limiting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383280" cy="4572000"/>
          </a:xfrm>
          <a:prstGeom prst="roundRect">
            <a:avLst/>
          </a:prstGeom>
          <a:solidFill>
            <a:srgbClr val="1F2937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800" b="1">
                <a:solidFill>
                  <a:srgbClr val="F43F5E"/>
                </a:solidFill>
              </a:defRPr>
            </a:pPr>
            <a:r>
              <a:t>Database &amp; Integrations</a:t>
            </a:r>
          </a:p>
          <a:p>
            <a:pPr>
              <a:spcBef>
                <a:spcPts val="1400"/>
              </a:spcBef>
              <a:defRPr sz="1400">
                <a:solidFill>
                  <a:srgbClr val="E5E7EB"/>
                </a:solidFill>
              </a:defRPr>
            </a:pPr>
            <a:r>
              <a:t>• PostgreSQL / SQLite via SQLAlchemy ORM</a:t>
            </a:r>
          </a:p>
          <a:p>
            <a:pPr>
              <a:spcBef>
                <a:spcPts val="1400"/>
              </a:spcBef>
              <a:defRPr sz="1400">
                <a:solidFill>
                  <a:srgbClr val="E5E7EB"/>
                </a:solidFill>
              </a:defRPr>
            </a:pPr>
            <a:r>
              <a:t>• Razorpay Payment Gateway API</a:t>
            </a:r>
          </a:p>
          <a:p>
            <a:pPr>
              <a:spcBef>
                <a:spcPts val="1400"/>
              </a:spcBef>
              <a:defRPr sz="1400">
                <a:solidFill>
                  <a:srgbClr val="E5E7EB"/>
                </a:solidFill>
              </a:defRPr>
            </a:pPr>
            <a:r>
              <a:t>• Brevo Transactional Email HTTP API</a:t>
            </a:r>
          </a:p>
          <a:p>
            <a:pPr>
              <a:spcBef>
                <a:spcPts val="1400"/>
              </a:spcBef>
              <a:defRPr sz="1400">
                <a:solidFill>
                  <a:srgbClr val="E5E7EB"/>
                </a:solidFill>
              </a:defRPr>
            </a:pPr>
            <a:r>
              <a:t>• Render + Neon Cloud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37160" cy="7315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57200"/>
            <a:ext cx="104241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FEATURES</a:t>
            </a:r>
          </a:p>
          <a:p>
            <a:pPr>
              <a:spcBef>
                <a:spcPts val="400"/>
              </a:spcBef>
              <a:defRPr sz="1400">
                <a:solidFill>
                  <a:srgbClr val="9CA3AF"/>
                </a:solidFill>
              </a:defRPr>
            </a:pPr>
            <a:r>
              <a:t>Comprehensive Functional Capabilities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✨  Interactive Design Lab</a:t>
            </a:r>
          </a:p>
          <a:p>
            <a:pPr>
              <a:spcBef>
                <a:spcPts val="800"/>
              </a:spcBef>
              <a:defRPr sz="1400">
                <a:solidFill>
                  <a:srgbClr val="E5E7EB"/>
                </a:solidFill>
              </a:defRPr>
            </a:pPr>
            <a:r>
              <a:t>Customizer allowing users to personalize shoe colors, laces, and sole styles in real-time.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✨  Secret Admin Trigger</a:t>
            </a:r>
          </a:p>
          <a:p>
            <a:pPr>
              <a:spcBef>
                <a:spcPts val="800"/>
              </a:spcBef>
              <a:defRPr sz="1400">
                <a:solidFill>
                  <a:srgbClr val="E5E7EB"/>
                </a:solidFill>
              </a:defRPr>
            </a:pPr>
            <a:r>
              <a:t>7-click logo easter egg trigger for instant restricted admin portal access with state protection.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✨  Automated Brevo Emails</a:t>
            </a:r>
          </a:p>
          <a:p>
            <a:pPr>
              <a:spcBef>
                <a:spcPts val="800"/>
              </a:spcBef>
              <a:defRPr sz="1400">
                <a:solidFill>
                  <a:srgbClr val="E5E7EB"/>
                </a:solidFill>
              </a:defRPr>
            </a:pPr>
            <a:r>
              <a:t>Instant HTML order confirmation receipts and welcome messages sent via Brevo API.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✨  Razorpay &amp; UPI Payments</a:t>
            </a:r>
          </a:p>
          <a:p>
            <a:pPr>
              <a:spcBef>
                <a:spcPts val="800"/>
              </a:spcBef>
              <a:defRPr sz="1400">
                <a:solidFill>
                  <a:srgbClr val="E5E7EB"/>
                </a:solidFill>
              </a:defRPr>
            </a:pPr>
            <a:r>
              <a:t>Flexible checkout supporting Razorpay card verification, UPI QR code, and Cash-on-Delivery.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48640"/>
            <a:ext cx="137160" cy="7315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57200"/>
            <a:ext cx="104241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 &amp; FUTURE SCOPE</a:t>
            </a:r>
          </a:p>
          <a:p>
            <a:pPr>
              <a:spcBef>
                <a:spcPts val="400"/>
              </a:spcBef>
              <a:defRPr sz="1400">
                <a:solidFill>
                  <a:srgbClr val="9CA3AF"/>
                </a:solidFill>
              </a:defRPr>
            </a:pPr>
            <a:r>
              <a:t>Impact &amp; Next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F2937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2000" b="1">
                <a:solidFill>
                  <a:srgbClr val="F43F5E"/>
                </a:solidFill>
              </a:defRPr>
            </a:pPr>
            <a:r>
              <a:t>🏁  Project Conclusion</a:t>
            </a:r>
          </a:p>
          <a:p>
            <a:pPr>
              <a:spcBef>
                <a:spcPts val="1200"/>
              </a:spcBef>
              <a:defRPr sz="1400">
                <a:solidFill>
                  <a:srgbClr val="E5E7EB"/>
                </a:solidFill>
              </a:defRPr>
            </a:pPr>
            <a:r>
              <a:t>Laces &amp; Soles successfully demonstrates a modern, high-performance e-commerce platform delivering real-time stock updates, automated communications, and robust payment verification.</a:t>
            </a:r>
          </a:p>
          <a:p>
            <a:pPr>
              <a:spcBef>
                <a:spcPts val="1200"/>
              </a:spcBef>
              <a:defRPr sz="1400">
                <a:solidFill>
                  <a:srgbClr val="E5E7EB"/>
                </a:solidFill>
              </a:defRPr>
            </a:pPr>
            <a:r>
              <a:t>The system addresses traditional e-commerce pain points with seamless tracking, secure administration, and responsive user experiences.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🚀  Future Roadmap</a:t>
            </a:r>
          </a:p>
          <a:p>
            <a:pPr>
              <a:spcBef>
                <a:spcPts val="1200"/>
              </a:spcBef>
              <a:defRPr sz="1400">
                <a:solidFill>
                  <a:srgbClr val="E5E7EB"/>
                </a:solidFill>
              </a:defRPr>
            </a:pPr>
            <a:r>
              <a:t>• AI Sizing Assistant: Machine learning model for precise fit prediction.</a:t>
            </a:r>
          </a:p>
          <a:p>
            <a:pPr>
              <a:spcBef>
                <a:spcPts val="1200"/>
              </a:spcBef>
              <a:defRPr sz="1400">
                <a:solidFill>
                  <a:srgbClr val="E5E7EB"/>
                </a:solidFill>
              </a:defRPr>
            </a:pPr>
            <a:r>
              <a:t>• Mobile App: Native React Native iOS/Android app release.</a:t>
            </a:r>
          </a:p>
          <a:p>
            <a:pPr>
              <a:spcBef>
                <a:spcPts val="1200"/>
              </a:spcBef>
              <a:defRPr sz="1400">
                <a:solidFill>
                  <a:srgbClr val="E5E7EB"/>
                </a:solidFill>
              </a:defRPr>
            </a:pPr>
            <a:r>
              <a:t>• Multi-Warehouse Sync: Enterprise multi-location inventory routing.</a:t>
            </a:r>
          </a:p>
          <a:p>
            <a:pPr>
              <a:spcBef>
                <a:spcPts val="1200"/>
              </a:spcBef>
              <a:defRPr sz="1400">
                <a:solidFill>
                  <a:srgbClr val="E5E7EB"/>
                </a:solidFill>
              </a:defRPr>
            </a:pPr>
            <a:r>
              <a:t>• AR Try-On: Augmented reality 3D shoe preview on mobile.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